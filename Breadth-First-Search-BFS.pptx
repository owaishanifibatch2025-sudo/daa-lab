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Tight"/>
      <p:regular r:id="rId201314"/>
    </p:embeddedFont>
    <p:embeddedFont>
      <p:font typeface="Inter Tight SemiBold"/>
      <p:regular r:id="rId201315"/>
    </p:embeddedFont>
    <p:embeddedFont>
      <p:font typeface="Inter Tigh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3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3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3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252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2849067"/>
            <a:ext cx="1158211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Breadth-First</a:t>
            </a:r>
            <a:endParaRPr lang="en-US" sz="11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110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Search (BFS)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304792" y="5671227"/>
            <a:ext cx="1158211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Design and Analysis of Algorithms (DAA)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04792" y="6082109"/>
            <a:ext cx="3822009" cy="19050"/>
          </a:xfrm>
          <a:prstGeom prst="roundRect">
            <a:avLst>
              <a:gd name="adj" fmla="val 49999"/>
            </a:avLst>
          </a:prstGeom>
          <a:solidFill>
            <a:srgbClr val="D3DDD0"/>
          </a:solidFill>
          <a:ln/>
        </p:spPr>
      </p:sp>
      <p:sp>
        <p:nvSpPr>
          <p:cNvPr id="5" name="Text 3"/>
          <p:cNvSpPr/>
          <p:nvPr/>
        </p:nvSpPr>
        <p:spPr>
          <a:xfrm>
            <a:off x="304792" y="6304359"/>
            <a:ext cx="1188690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Student Name: Owais Hanafi · Class/Section: Section B · Roll Number / PRN: 25070521328 · Subject/Lab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93822" cy="6858000"/>
          </a:xfrm>
          <a:prstGeom prst="rect">
            <a:avLst/>
          </a:prstGeom>
          <a:solidFill>
            <a:srgbClr val="F3ECDD"/>
          </a:solidFill>
          <a:ln/>
        </p:spPr>
      </p:sp>
      <p:sp>
        <p:nvSpPr>
          <p:cNvPr id="3" name="Text 1"/>
          <p:cNvSpPr/>
          <p:nvPr/>
        </p:nvSpPr>
        <p:spPr>
          <a:xfrm>
            <a:off x="304792" y="371181"/>
            <a:ext cx="4084238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BFS visits a graph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one level at a time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304792" y="6055519"/>
            <a:ext cx="408423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Breadth-First Search is a graph traversal algorithm for graphs and trees.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04" y="1320205"/>
            <a:ext cx="4038697" cy="3809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43264" y="3888355"/>
            <a:ext cx="1280594" cy="106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Start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843264" y="4072161"/>
            <a:ext cx="1280594" cy="180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08505" y="2127453"/>
            <a:ext cx="1280594" cy="106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Level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808505" y="2311259"/>
            <a:ext cx="1280594" cy="180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 · 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30287" y="3888355"/>
            <a:ext cx="1280594" cy="106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Level 2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830287" y="4072161"/>
            <a:ext cx="1280594" cy="180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 · E · F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55704" y="5288855"/>
            <a:ext cx="673599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All immediate neighbours are explored before BFS moves deeper.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954659" cy="270173"/>
          </a:xfrm>
          <a:prstGeom prst="roundRect">
            <a:avLst>
              <a:gd name="adj" fmla="val 22112"/>
            </a:avLst>
          </a:prstGeom>
          <a:solidFill>
            <a:srgbClr val="F4EBD7"/>
          </a:solidFill>
          <a:ln/>
        </p:spPr>
      </p:sp>
      <p:sp>
        <p:nvSpPr>
          <p:cNvPr id="3" name="Text 1"/>
          <p:cNvSpPr/>
          <p:nvPr/>
        </p:nvSpPr>
        <p:spPr>
          <a:xfrm>
            <a:off x="411450" y="361848"/>
            <a:ext cx="135092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90" kern="10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792" y="714379"/>
            <a:ext cx="1158211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The traversal repeats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six simple actions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04792" y="2095798"/>
            <a:ext cx="1188690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Each pass moves one vertex from discovery to processing.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4792" y="3330178"/>
            <a:ext cx="3708307" cy="1459111"/>
          </a:xfrm>
          <a:prstGeom prst="rect">
            <a:avLst/>
          </a:prstGeom>
          <a:solidFill>
            <a:srgbClr val="F3ECDD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3558778"/>
            <a:ext cx="7900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3387" y="3807718"/>
            <a:ext cx="3251019" cy="19050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9" name="Text 7"/>
          <p:cNvSpPr/>
          <p:nvPr/>
        </p:nvSpPr>
        <p:spPr>
          <a:xfrm>
            <a:off x="533387" y="3945416"/>
            <a:ext cx="325111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Select and visit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3387" y="4311848"/>
            <a:ext cx="347971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Choose a start vertex and mark it visited.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7892" y="3330178"/>
            <a:ext cx="3606710" cy="1459111"/>
          </a:xfrm>
          <a:prstGeom prst="rect">
            <a:avLst/>
          </a:prstGeom>
          <a:solidFill>
            <a:srgbClr val="F3ECDD"/>
          </a:solidFill>
          <a:ln/>
        </p:spPr>
      </p:sp>
      <p:sp>
        <p:nvSpPr>
          <p:cNvPr id="12" name="Text 10"/>
          <p:cNvSpPr/>
          <p:nvPr/>
        </p:nvSpPr>
        <p:spPr>
          <a:xfrm>
            <a:off x="4546486" y="3558778"/>
            <a:ext cx="82557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46486" y="3807718"/>
            <a:ext cx="3149521" cy="19050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14" name="Text 12"/>
          <p:cNvSpPr/>
          <p:nvPr/>
        </p:nvSpPr>
        <p:spPr>
          <a:xfrm>
            <a:off x="4546486" y="3945416"/>
            <a:ext cx="3149521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Enqueue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46486" y="4311848"/>
            <a:ext cx="337811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Place the start vertex in the queue.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394" y="3330178"/>
            <a:ext cx="3657509" cy="1459111"/>
          </a:xfrm>
          <a:prstGeom prst="rect">
            <a:avLst/>
          </a:prstGeom>
          <a:solidFill>
            <a:srgbClr val="F3ECDD"/>
          </a:solidFill>
          <a:ln/>
        </p:spPr>
      </p:sp>
      <p:sp>
        <p:nvSpPr>
          <p:cNvPr id="17" name="Text 15"/>
          <p:cNvSpPr/>
          <p:nvPr/>
        </p:nvSpPr>
        <p:spPr>
          <a:xfrm>
            <a:off x="8457988" y="3558778"/>
            <a:ext cx="83083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57988" y="3807718"/>
            <a:ext cx="3200320" cy="19050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19" name="Text 17"/>
          <p:cNvSpPr/>
          <p:nvPr/>
        </p:nvSpPr>
        <p:spPr>
          <a:xfrm>
            <a:off x="8457988" y="3945416"/>
            <a:ext cx="320032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Dequeue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57988" y="4311848"/>
            <a:ext cx="342891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Remove the vertex at the front.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04792" y="5094089"/>
            <a:ext cx="3708307" cy="1459111"/>
          </a:xfrm>
          <a:prstGeom prst="rect">
            <a:avLst/>
          </a:prstGeom>
          <a:solidFill>
            <a:srgbClr val="F3ECDD"/>
          </a:solidFill>
          <a:ln/>
        </p:spPr>
      </p:sp>
      <p:sp>
        <p:nvSpPr>
          <p:cNvPr id="22" name="Text 20"/>
          <p:cNvSpPr/>
          <p:nvPr/>
        </p:nvSpPr>
        <p:spPr>
          <a:xfrm>
            <a:off x="533387" y="5322689"/>
            <a:ext cx="83331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3387" y="5571629"/>
            <a:ext cx="3251019" cy="19050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24" name="Text 22"/>
          <p:cNvSpPr/>
          <p:nvPr/>
        </p:nvSpPr>
        <p:spPr>
          <a:xfrm>
            <a:off x="533387" y="5709327"/>
            <a:ext cx="325111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Discover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3387" y="6075759"/>
            <a:ext cx="347971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Add each unvisited neighbour.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17892" y="5094089"/>
            <a:ext cx="7569011" cy="1459111"/>
          </a:xfrm>
          <a:prstGeom prst="rect">
            <a:avLst/>
          </a:prstGeom>
          <a:solidFill>
            <a:srgbClr val="F3ECDD"/>
          </a:solidFill>
          <a:ln/>
        </p:spPr>
      </p:sp>
      <p:sp>
        <p:nvSpPr>
          <p:cNvPr id="27" name="Text 25"/>
          <p:cNvSpPr/>
          <p:nvPr/>
        </p:nvSpPr>
        <p:spPr>
          <a:xfrm>
            <a:off x="4546486" y="5322689"/>
            <a:ext cx="82726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46486" y="5571629"/>
            <a:ext cx="7111822" cy="19050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29" name="Text 27"/>
          <p:cNvSpPr/>
          <p:nvPr/>
        </p:nvSpPr>
        <p:spPr>
          <a:xfrm>
            <a:off x="4546486" y="5709327"/>
            <a:ext cx="7111822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Repeat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46486" y="6075759"/>
            <a:ext cx="734041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Continue until the queue is empty.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02712" cy="6858000"/>
          </a:xfrm>
          <a:prstGeom prst="rect">
            <a:avLst/>
          </a:prstGeom>
          <a:solidFill>
            <a:srgbClr val="1F3252"/>
          </a:solidFill>
          <a:ln/>
        </p:spPr>
      </p:sp>
      <p:sp>
        <p:nvSpPr>
          <p:cNvPr id="3" name="Text 1"/>
          <p:cNvSpPr/>
          <p:nvPr/>
        </p:nvSpPr>
        <p:spPr>
          <a:xfrm>
            <a:off x="304792" y="361848"/>
            <a:ext cx="1847506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90" kern="100" dirty="0">
                <a:solidFill>
                  <a:srgbClr val="FBF8F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ORDER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792" y="714379"/>
            <a:ext cx="3693127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The queue controls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the order of exploration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04792" y="5647928"/>
            <a:ext cx="3693127" cy="905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FIFO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means First In, First Out.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Enqueue adds at the rear. Dequeue removes from the front.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64594" y="2012040"/>
            <a:ext cx="682230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One queue, two ends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64594" y="2378472"/>
            <a:ext cx="1863778" cy="1805186"/>
          </a:xfrm>
          <a:prstGeom prst="rect">
            <a:avLst/>
          </a:prstGeom>
          <a:solidFill>
            <a:srgbClr val="6E1F2B"/>
          </a:solidFill>
          <a:ln/>
        </p:spPr>
      </p:sp>
      <p:sp>
        <p:nvSpPr>
          <p:cNvPr id="8" name="Text 6"/>
          <p:cNvSpPr/>
          <p:nvPr/>
        </p:nvSpPr>
        <p:spPr>
          <a:xfrm>
            <a:off x="5293188" y="2610882"/>
            <a:ext cx="163518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FRONT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93188" y="2959798"/>
            <a:ext cx="1406589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B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293188" y="3706217"/>
            <a:ext cx="163518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leaves next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33064" y="2378472"/>
            <a:ext cx="2485268" cy="1805186"/>
          </a:xfrm>
          <a:prstGeom prst="rect">
            <a:avLst/>
          </a:prstGeom>
          <a:solidFill>
            <a:srgbClr val="E6DFD0"/>
          </a:solidFill>
          <a:ln/>
        </p:spPr>
      </p:sp>
      <p:sp>
        <p:nvSpPr>
          <p:cNvPr id="12" name="Text 10"/>
          <p:cNvSpPr/>
          <p:nvPr/>
        </p:nvSpPr>
        <p:spPr>
          <a:xfrm>
            <a:off x="7461659" y="2610882"/>
            <a:ext cx="225667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96" kern="10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WAITING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61659" y="2905406"/>
            <a:ext cx="202808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4A433C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[ C, D 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61659" y="3271838"/>
            <a:ext cx="225667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already discovered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23026" y="2378472"/>
            <a:ext cx="1863877" cy="1805186"/>
          </a:xfrm>
          <a:prstGeom prst="rect">
            <a:avLst/>
          </a:prstGeom>
          <a:solidFill>
            <a:srgbClr val="2447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251620" y="2610882"/>
            <a:ext cx="163528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51620" y="2959798"/>
            <a:ext cx="140668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C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10251620" y="3706217"/>
            <a:ext cx="163528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enters here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64594" y="4386858"/>
            <a:ext cx="4570893" cy="19050"/>
          </a:xfrm>
          <a:prstGeom prst="roundRect">
            <a:avLst>
              <a:gd name="adj" fmla="val 49999"/>
            </a:avLst>
          </a:prstGeom>
          <a:solidFill>
            <a:srgbClr val="FBF8F1"/>
          </a:solidFill>
          <a:ln/>
        </p:spPr>
      </p:sp>
      <p:sp>
        <p:nvSpPr>
          <p:cNvPr id="20" name="Text 18"/>
          <p:cNvSpPr/>
          <p:nvPr/>
        </p:nvSpPr>
        <p:spPr>
          <a:xfrm>
            <a:off x="5064594" y="4609108"/>
            <a:ext cx="712710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visited list prevents repeated visits.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1412344" cy="270173"/>
          </a:xfrm>
          <a:prstGeom prst="roundRect">
            <a:avLst>
              <a:gd name="adj" fmla="val 22112"/>
            </a:avLst>
          </a:prstGeom>
          <a:solidFill>
            <a:srgbClr val="F4EBD7"/>
          </a:solidFill>
          <a:ln/>
        </p:spPr>
      </p:sp>
      <p:sp>
        <p:nvSpPr>
          <p:cNvPr id="3" name="Text 1"/>
          <p:cNvSpPr/>
          <p:nvPr/>
        </p:nvSpPr>
        <p:spPr>
          <a:xfrm>
            <a:off x="411450" y="361848"/>
            <a:ext cx="180861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90" kern="10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WORKED GRAPH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792" y="768354"/>
            <a:ext cx="1158211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From A, BFS discovers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three levels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04792" y="2149773"/>
            <a:ext cx="1188690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Graph edges: A–B, A–C, B–D, B–E, C–F.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3124299"/>
            <a:ext cx="7811098" cy="3428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526" y="5620199"/>
            <a:ext cx="1369517" cy="206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Level 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27526" y="5907584"/>
            <a:ext cx="1369517" cy="18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· start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64638" y="3483611"/>
            <a:ext cx="1369517" cy="206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Level 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564638" y="3770995"/>
            <a:ext cx="1369517" cy="18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B, C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70506" y="5565521"/>
            <a:ext cx="1369517" cy="206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Level 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70506" y="5852906"/>
            <a:ext cx="1369517" cy="18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D, E, F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975423"/>
            <a:ext cx="1158211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The queue produces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A → B → C → D → E → F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304792" y="2356842"/>
            <a:ext cx="1188690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Trace the exact queue state after each operation.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792" y="2764433"/>
          <a:ext cx="11582110" cy="914400"/>
        </p:xfrm>
        <a:graphic>
          <a:graphicData uri="http://schemas.openxmlformats.org/drawingml/2006/table">
            <a:tbl>
              <a:tblPr/>
              <a:tblGrid>
                <a:gridCol w="1389758"/>
                <a:gridCol w="5096077"/>
                <a:gridCol w="5096276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1D1A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Step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1D1A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Operation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1D1A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Queue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1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Start from A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[A]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2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Remove A; add B, C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[B, C]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3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Remove B; add D, E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[C, D, E]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4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Remove C; add F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[D, E, F]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5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Remove D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[E, F]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6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Remove E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[F]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7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Remove F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[]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1174493"/>
            <a:ext cx="1158211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BFS pseudocode turns the idea into an algorithm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04792" y="1771749"/>
            <a:ext cx="11582110" cy="3484662"/>
          </a:xfrm>
          <a:prstGeom prst="roundRect">
            <a:avLst>
              <a:gd name="adj" fmla="val 2143"/>
            </a:avLst>
          </a:prstGeom>
          <a:solidFill>
            <a:srgbClr val="E6DFD0"/>
          </a:solidFill>
          <a:ln/>
        </p:spPr>
      </p:sp>
      <p:sp>
        <p:nvSpPr>
          <p:cNvPr id="4" name="Text 2"/>
          <p:cNvSpPr/>
          <p:nvPr/>
        </p:nvSpPr>
        <p:spPr>
          <a:xfrm>
            <a:off x="518107" y="1949867"/>
            <a:ext cx="11155480" cy="31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BFS(Graph, start):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 an empty queue Q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 start as visited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Enqueue start into Q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 is not empty: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vertex = Dequeue Q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 vertex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each neighbour of vertex: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neighbour is not visited: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Mark neighbour as visited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Enqueue neighbour into Q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792" y="5456436"/>
            <a:ext cx="1188690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Mark vertices when enqueued to avoid duplicate processing.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1171050" cy="270173"/>
          </a:xfrm>
          <a:prstGeom prst="roundRect">
            <a:avLst>
              <a:gd name="adj" fmla="val 22112"/>
            </a:avLst>
          </a:prstGeom>
          <a:solidFill>
            <a:srgbClr val="F4EBD7"/>
          </a:solidFill>
          <a:ln/>
        </p:spPr>
      </p:sp>
      <p:sp>
        <p:nvSpPr>
          <p:cNvPr id="3" name="Text 1"/>
          <p:cNvSpPr/>
          <p:nvPr/>
        </p:nvSpPr>
        <p:spPr>
          <a:xfrm>
            <a:off x="411450" y="361848"/>
            <a:ext cx="156731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90" kern="10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792" y="714379"/>
            <a:ext cx="1158211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With an adjacency list,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221D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BFS runs in O(V + E)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04792" y="2095798"/>
            <a:ext cx="1188690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A43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representation keeps the work proportional to vertices and edges.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792" y="4957763"/>
          <a:ext cx="11582110" cy="914400"/>
        </p:xfrm>
        <a:graphic>
          <a:graphicData uri="http://schemas.openxmlformats.org/drawingml/2006/table">
            <a:tbl>
              <a:tblPr/>
              <a:tblGrid>
                <a:gridCol w="3011341"/>
                <a:gridCol w="3937846"/>
                <a:gridCol w="4632924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1D1A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Measure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1D1A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Meaning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1D1A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Cost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V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Number of vertices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Visited once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E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Number of edges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Examined through adjacency lists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Space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Queue and visited list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33C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O(V)</a:t>
                      </a:r>
                      <a:endParaRPr lang="en-US" sz="14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98267" cy="6858000"/>
          </a:xfrm>
          <a:prstGeom prst="rect">
            <a:avLst/>
          </a:prstGeom>
          <a:solidFill>
            <a:srgbClr val="D0D8E3"/>
          </a:solidFill>
          <a:ln/>
        </p:spPr>
      </p:sp>
      <p:sp>
        <p:nvSpPr>
          <p:cNvPr id="3" name="Text 1"/>
          <p:cNvSpPr/>
          <p:nvPr/>
        </p:nvSpPr>
        <p:spPr>
          <a:xfrm>
            <a:off x="304792" y="308610"/>
            <a:ext cx="419347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96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792" y="657526"/>
            <a:ext cx="3888682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BFS is useful wherever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“nearest first” matters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04792" y="5399087"/>
            <a:ext cx="3888682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Simple, systematic, and shortest-path capable in unweighted graphs.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Limitation: wide graphs can require significant queue memory.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55357" y="0"/>
            <a:ext cx="3465723" cy="1840111"/>
          </a:xfrm>
          <a:prstGeom prst="rect">
            <a:avLst/>
          </a:prstGeom>
          <a:solidFill>
            <a:srgbClr val="F3ECD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0149" y="304800"/>
            <a:ext cx="444489" cy="444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60149" y="920038"/>
            <a:ext cx="285613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Shortest paths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60149" y="1286470"/>
            <a:ext cx="316093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Unweighted graphs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725872" y="0"/>
            <a:ext cx="3465823" cy="1840111"/>
          </a:xfrm>
          <a:prstGeom prst="rect">
            <a:avLst/>
          </a:prstGeom>
          <a:solidFill>
            <a:srgbClr val="F3EC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665" y="304800"/>
            <a:ext cx="444489" cy="444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030665" y="920038"/>
            <a:ext cx="285623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Connections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030665" y="1286470"/>
            <a:ext cx="316103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Social-network distance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955357" y="2144911"/>
            <a:ext cx="3465723" cy="1840111"/>
          </a:xfrm>
          <a:prstGeom prst="rect">
            <a:avLst/>
          </a:prstGeom>
          <a:solidFill>
            <a:srgbClr val="F3ECD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149" y="2449711"/>
            <a:ext cx="444489" cy="444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60149" y="3064949"/>
            <a:ext cx="285613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Broadcasting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5260149" y="3431381"/>
            <a:ext cx="316093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Web crawling and networks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725872" y="2144911"/>
            <a:ext cx="3465823" cy="1840111"/>
          </a:xfrm>
          <a:prstGeom prst="rect">
            <a:avLst/>
          </a:prstGeom>
          <a:solidFill>
            <a:srgbClr val="F3ECD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665" y="2449711"/>
            <a:ext cx="444489" cy="4445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30665" y="3064949"/>
            <a:ext cx="285623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Tree levels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9030665" y="3431381"/>
            <a:ext cx="316103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Level-order traversal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304800"/>
            <a:ext cx="999604" cy="27017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50" y="361848"/>
            <a:ext cx="1395874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90" kern="1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792" y="746550"/>
            <a:ext cx="11582110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BFS is simple,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systematic, and level-aware</a:t>
            </a:r>
            <a:endParaRPr lang="en-US" sz="7400" dirty="0"/>
          </a:p>
        </p:txBody>
      </p:sp>
      <p:sp>
        <p:nvSpPr>
          <p:cNvPr id="5" name="Shape 3"/>
          <p:cNvSpPr/>
          <p:nvPr/>
        </p:nvSpPr>
        <p:spPr>
          <a:xfrm>
            <a:off x="304792" y="3689648"/>
            <a:ext cx="3822009" cy="19050"/>
          </a:xfrm>
          <a:prstGeom prst="roundRect">
            <a:avLst>
              <a:gd name="adj" fmla="val 49999"/>
            </a:avLst>
          </a:prstGeom>
          <a:solidFill>
            <a:srgbClr val="D3DDD0"/>
          </a:solidFill>
          <a:ln/>
        </p:spPr>
      </p:sp>
      <p:sp>
        <p:nvSpPr>
          <p:cNvPr id="6" name="Text 4"/>
          <p:cNvSpPr/>
          <p:nvPr/>
        </p:nvSpPr>
        <p:spPr>
          <a:xfrm>
            <a:off x="304792" y="3911898"/>
            <a:ext cx="563865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Level by level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Graph traversal that explores outward.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48244" y="3911898"/>
            <a:ext cx="563865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FIFO queue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Controls the visit order.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4792" y="4714379"/>
            <a:ext cx="563865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Shortest paths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For unweighted graphs.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48244" y="4714379"/>
            <a:ext cx="563865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O(V + E)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With an adjacency-list representation.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4792" y="5896769"/>
            <a:ext cx="11582110" cy="65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Thank You</a:t>
            </a:r>
            <a:endParaRPr lang="en-US" sz="1400" dirty="0"/>
          </a:p>
          <a:p>
            <a:pPr algn="r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Generated using Gamma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2026-10-20T08:22:45Z</dcterms:created>
  <dcterms:modified xsi:type="dcterms:W3CDTF">2026-10-20T08:22:45Z</dcterms:modified>
</cp:coreProperties>
</file>